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este estudo cruza os três pilares do saneamento básico — água, esgoto e lixo — a partir dos microdados municipais do Censo 2022 do IBGE, para identificar onde o país está próximo da universalização e onde a carência é mais aguda.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coluna traz os dois municípios extremos de quatro indicadores. Na água, o contraste vai de cobertura plena em Águas de São Pedro (SP) a vulnerabilidade total em Algodão de Jandaíra (PB), que também lidera a dependência de carro-pipa. No esgoto, o problema mais grave é a ausência de banheiro, que atinge cerca de 40% dos domicílios em Buriti (MA) e São Gabriel da Cachoeira (AM). No lixo, o Maranhão concentra os piores casos de descarte inadequado e queima na propriedade.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no indicador mais crítico do pilar água. Algodão de Jandaíra tem 100% dos domicílios em vulnerabilidade hídrica e lidera também a dependência de carro-pipa. Betânia do Piauí, no semiárido piauiense, vem logo atrás.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esgoto, o indicador mais crítico é o esgotamento inadequado: despejo em vala, rio, lago ou a céu aberto. Os dois primeiros colocados mostram que o problema atravessa regiões — um município do Piauí e outro do Paraná, ambos com quase 100% dos domicílios nessa situação.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lixo, o descarte inadequado concentra-se no Maranhão. Serrano do Maranhão e Bacurituba lideram tanto o descarte inadequado quanto a queima de lixo na propriedade, com impactos diretos na saúde e no meio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IAP combina os três pilares numa única nota. Os cinco primeiros colocados têm, na prática, atendimento universal: nenhum fica abaixo de 99% em água, esgoto ou coleta de lixo. A concentração no Sudeste — SP, ES e MG — é o primeiro sinal da desigualdade regional que veremos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extremo oposto, o IAP fica perto de 12%: de cada 100 pontos possíveis, esses municípios atingem cerca de 12. O padrão se repete — água e esgoto praticamente inexistentes pela rede, e a coleta de lixo como único serviço parcialmente presente. Os quatro estados envolvidos estão no Norte e no Nordeste.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IVST inverte a lógica do IAP: mede a carência acumulada. Governador Jorge Teixeira (RO) lidera, com 99% de esgotamento inadequado e quase 95% dos domicílios sem acesso adequado à água. Gado Bravo (PB) aparece tanto entre os menores IAP quanto entre os maiores IVST, o que o torna prioridade evidente. São estes os focos que devem orientar a alocação de investimentos.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mensagens para levar: a desigualdade é regional e persistente; o esgoto e a destinação de resíduos são os pilares mais atrasados nos municípios pequenos e menos estruturados; e o IVST oferece uma lista objetiva de onde começar para que o país alcance as metas de universalização de 2033.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1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69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00820"/>
            <a:ext cx="10566400" cy="424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69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00820"/>
            <a:ext cx="10566400" cy="424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433"/>
              </a:gs>
              <a:gs pos="55000">
                <a:srgbClr val="0D3A4D"/>
              </a:gs>
              <a:gs pos="100000">
                <a:srgbClr val="0F5A66"/>
              </a:gs>
            </a:gsLst>
            <a:lin ang="27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1861675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7F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CENSO DEMOGRÁFICO 2022 · IBGE</a:t>
            </a:r>
            <a:endParaRPr lang="en-US" sz="13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346788"/>
            <a:ext cx="7848600" cy="1232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Panorama do Saneamento Básico no Brasil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12800" y="3807685"/>
            <a:ext cx="706374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 Integrada dos Indicadores de Água, Esgotamento Sanitário e Gestão de Resíduos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4630539"/>
            <a:ext cx="715301" cy="365720"/>
          </a:xfrm>
          <a:prstGeom prst="roundRect">
            <a:avLst>
              <a:gd name="adj" fmla="val 50000"/>
            </a:avLst>
          </a:prstGeom>
          <a:solidFill>
            <a:srgbClr val="7FD3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Água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61451" y="4636889"/>
            <a:ext cx="1930135" cy="3530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FD3D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Esgotamento sanitário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31287" y="4636889"/>
            <a:ext cx="1692804" cy="3530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FD3D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Gestão de resíduos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381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INDICADORES INDIVIDUAIS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470463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Raio-X dos 3 pilares</a:t>
            </a:r>
            <a:endParaRPr lang="en-US" sz="3000" dirty="0"/>
          </a:p>
        </p:txBody>
      </p:sp>
      <p:pic>
        <p:nvPicPr>
          <p:cNvPr id="4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32813" y="1042657"/>
            <a:ext cx="165100" cy="165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61413" y="1018580"/>
            <a:ext cx="31413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1 — maior percentual no indicador</a:t>
            </a:r>
            <a:endParaRPr lang="en-US" sz="1200" dirty="0"/>
          </a:p>
        </p:txBody>
      </p:sp>
      <p:pic>
        <p:nvPicPr>
          <p:cNvPr id="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32813" y="1306778"/>
            <a:ext cx="165100" cy="165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1413" y="1282700"/>
            <a:ext cx="2851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crítico — pior situação do país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12800" y="1699220"/>
            <a:ext cx="3420533" cy="4142780"/>
          </a:xfrm>
          <a:prstGeom prst="roundRect">
            <a:avLst>
              <a:gd name="adj" fmla="val 3713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12800" y="1699220"/>
            <a:ext cx="3420533" cy="4142780"/>
          </a:xfrm>
          <a:custGeom>
            <a:avLst/>
            <a:gdLst/>
            <a:ahLst/>
            <a:cxnLst/>
            <a:rect l="l" t="t" r="r" b="b"/>
            <a:pathLst>
              <a:path w="3420533" h="414278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93533" y="0"/>
                </a:lnTo>
                <a:arcTo hR="127000" wR="127000" stAng="16200000" swAng="5400000"/>
                <a:lnTo>
                  <a:pt x="342053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FA3B8"/>
          </a:solidFill>
          <a:ln/>
        </p:spPr>
      </p:sp>
      <p:sp>
        <p:nvSpPr>
          <p:cNvPr id="10" name="Text 6"/>
          <p:cNvSpPr/>
          <p:nvPr/>
        </p:nvSpPr>
        <p:spPr>
          <a:xfrm>
            <a:off x="990600" y="1915120"/>
            <a:ext cx="3156881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Água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90600" y="2268803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12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0600" y="2370138"/>
            <a:ext cx="165100" cy="165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9200" y="2346061"/>
            <a:ext cx="1561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Cobertura de água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90600" y="2584781"/>
            <a:ext cx="1985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Águas de São Pedro/SP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72023" y="2584781"/>
            <a:ext cx="7835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100,00%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90600" y="2823501"/>
            <a:ext cx="1017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Diadema/SP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97276" y="2823501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99,84%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90600" y="3116197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19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0600" y="3217532"/>
            <a:ext cx="165100" cy="1651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19200" y="3193455"/>
            <a:ext cx="1972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Vulnerabilidade hídrica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90600" y="3432175"/>
            <a:ext cx="2057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Algodão de Jandaíra/PB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272023" y="3432175"/>
            <a:ext cx="7835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100,00%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90600" y="3670895"/>
            <a:ext cx="15815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Betânia do Piauí/PI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397276" y="3670895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99,85%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90600" y="3963591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26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0600" y="4064926"/>
            <a:ext cx="165100" cy="1651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19200" y="4040849"/>
            <a:ext cx="230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Dependência de carro-pipa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90600" y="4279570"/>
            <a:ext cx="2057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Algodão de Jandaíra/PB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81798" y="4279570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92,77%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990600" y="4518290"/>
            <a:ext cx="9843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Sossêgo/PB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97276" y="4518290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90,95%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90600" y="4810985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33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0600" y="4912320"/>
            <a:ext cx="165100" cy="1651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19200" y="4888243"/>
            <a:ext cx="15563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Poços e nascentes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90600" y="5126964"/>
            <a:ext cx="16302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Vale do Paraíso/RO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381798" y="5126964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99,92%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990600" y="5365684"/>
            <a:ext cx="18582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Gov. Jorge Teixeira/RO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3397276" y="5365684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97,92%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4385733" y="1699220"/>
            <a:ext cx="3420533" cy="4142780"/>
          </a:xfrm>
          <a:prstGeom prst="roundRect">
            <a:avLst>
              <a:gd name="adj" fmla="val 3713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385733" y="1699220"/>
            <a:ext cx="3420533" cy="4142780"/>
          </a:xfrm>
          <a:custGeom>
            <a:avLst/>
            <a:gdLst/>
            <a:ahLst/>
            <a:cxnLst/>
            <a:rect l="l" t="t" r="r" b="b"/>
            <a:pathLst>
              <a:path w="3420533" h="414278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93533" y="0"/>
                </a:lnTo>
                <a:arcTo hR="127000" wR="127000" stAng="16200000" swAng="5400000"/>
                <a:lnTo>
                  <a:pt x="342053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0E6E7E"/>
          </a:solidFill>
          <a:ln/>
        </p:spPr>
      </p:sp>
      <p:sp>
        <p:nvSpPr>
          <p:cNvPr id="41" name="Text 33"/>
          <p:cNvSpPr/>
          <p:nvPr/>
        </p:nvSpPr>
        <p:spPr>
          <a:xfrm>
            <a:off x="4563533" y="1915120"/>
            <a:ext cx="3156881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Esgoto</a:t>
            </a:r>
            <a:endParaRPr lang="en-US" sz="1800" dirty="0"/>
          </a:p>
        </p:txBody>
      </p:sp>
      <p:sp>
        <p:nvSpPr>
          <p:cNvPr id="42" name="Shape 34"/>
          <p:cNvSpPr/>
          <p:nvPr/>
        </p:nvSpPr>
        <p:spPr>
          <a:xfrm>
            <a:off x="4563533" y="2268803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43" name="Image 6" descr="Char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63533" y="2370138"/>
            <a:ext cx="165100" cy="1651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92133" y="2346061"/>
            <a:ext cx="17150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Cobertura de esgoto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563533" y="2584781"/>
            <a:ext cx="19404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São Caetano do Sul/SP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6954732" y="2584781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99,83%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4563533" y="2823501"/>
            <a:ext cx="1912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Águas de São Pedro/SP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6970210" y="2823501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99,65%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4563533" y="3116197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50" name="Image 7" descr="Warni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63533" y="3217532"/>
            <a:ext cx="165100" cy="16510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792133" y="3193455"/>
            <a:ext cx="21616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Esgotamento inadequado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4563533" y="3432175"/>
            <a:ext cx="1628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 Santa Rita/PI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6954732" y="3432175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99,78%</a:t>
            </a:r>
            <a:endParaRPr lang="en-US" sz="1200" dirty="0"/>
          </a:p>
        </p:txBody>
      </p:sp>
      <p:sp>
        <p:nvSpPr>
          <p:cNvPr id="54" name="Text 44"/>
          <p:cNvSpPr/>
          <p:nvPr/>
        </p:nvSpPr>
        <p:spPr>
          <a:xfrm>
            <a:off x="4563533" y="3670895"/>
            <a:ext cx="808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Sulina/PR</a:t>
            </a:r>
            <a:endParaRPr lang="en-US" sz="1200" dirty="0"/>
          </a:p>
        </p:txBody>
      </p:sp>
      <p:sp>
        <p:nvSpPr>
          <p:cNvPr id="55" name="Text 45"/>
          <p:cNvSpPr/>
          <p:nvPr/>
        </p:nvSpPr>
        <p:spPr>
          <a:xfrm>
            <a:off x="6970210" y="3670895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99,63%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4563533" y="3963591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57" name="Image 8" descr="Chart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63533" y="4064926"/>
            <a:ext cx="165100" cy="16510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4792133" y="4040849"/>
            <a:ext cx="11464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Fossa séptica</a:t>
            </a:r>
            <a:endParaRPr lang="en-US" sz="1200" dirty="0"/>
          </a:p>
        </p:txBody>
      </p:sp>
      <p:sp>
        <p:nvSpPr>
          <p:cNvPr id="59" name="Text 48"/>
          <p:cNvSpPr/>
          <p:nvPr/>
        </p:nvSpPr>
        <p:spPr>
          <a:xfrm>
            <a:off x="4563533" y="4279570"/>
            <a:ext cx="1816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Balneário Gaivota/SC</a:t>
            </a:r>
            <a:endParaRPr lang="en-US" sz="1200" dirty="0"/>
          </a:p>
        </p:txBody>
      </p:sp>
      <p:sp>
        <p:nvSpPr>
          <p:cNvPr id="60" name="Text 49"/>
          <p:cNvSpPr/>
          <p:nvPr/>
        </p:nvSpPr>
        <p:spPr>
          <a:xfrm>
            <a:off x="6954732" y="4279570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98,99%</a:t>
            </a:r>
            <a:endParaRPr lang="en-US" sz="1200" dirty="0"/>
          </a:p>
        </p:txBody>
      </p:sp>
      <p:sp>
        <p:nvSpPr>
          <p:cNvPr id="61" name="Text 50"/>
          <p:cNvSpPr/>
          <p:nvPr/>
        </p:nvSpPr>
        <p:spPr>
          <a:xfrm>
            <a:off x="4563533" y="4518290"/>
            <a:ext cx="12511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Derrubadas/RS</a:t>
            </a:r>
            <a:endParaRPr lang="en-US" sz="1200" dirty="0"/>
          </a:p>
        </p:txBody>
      </p:sp>
      <p:sp>
        <p:nvSpPr>
          <p:cNvPr id="62" name="Text 51"/>
          <p:cNvSpPr/>
          <p:nvPr/>
        </p:nvSpPr>
        <p:spPr>
          <a:xfrm>
            <a:off x="6970210" y="4518290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98,79%</a:t>
            </a:r>
            <a:endParaRPr lang="en-US" sz="1200" dirty="0"/>
          </a:p>
        </p:txBody>
      </p:sp>
      <p:sp>
        <p:nvSpPr>
          <p:cNvPr id="63" name="Shape 52"/>
          <p:cNvSpPr/>
          <p:nvPr/>
        </p:nvSpPr>
        <p:spPr>
          <a:xfrm>
            <a:off x="4563533" y="4810985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64" name="Image 9" descr="Warni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63533" y="4912320"/>
            <a:ext cx="165100" cy="165100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4792133" y="4888243"/>
            <a:ext cx="11726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banheiro</a:t>
            </a:r>
            <a:endParaRPr lang="en-US" sz="1200" dirty="0"/>
          </a:p>
        </p:txBody>
      </p:sp>
      <p:sp>
        <p:nvSpPr>
          <p:cNvPr id="66" name="Text 54"/>
          <p:cNvSpPr/>
          <p:nvPr/>
        </p:nvSpPr>
        <p:spPr>
          <a:xfrm>
            <a:off x="4563533" y="5126964"/>
            <a:ext cx="8219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Buriti/MA</a:t>
            </a:r>
            <a:endParaRPr lang="en-US" sz="1200" dirty="0"/>
          </a:p>
        </p:txBody>
      </p:sp>
      <p:sp>
        <p:nvSpPr>
          <p:cNvPr id="67" name="Text 55"/>
          <p:cNvSpPr/>
          <p:nvPr/>
        </p:nvSpPr>
        <p:spPr>
          <a:xfrm>
            <a:off x="6954732" y="5126964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39,73%</a:t>
            </a:r>
            <a:endParaRPr lang="en-US" sz="1200" dirty="0"/>
          </a:p>
        </p:txBody>
      </p:sp>
      <p:sp>
        <p:nvSpPr>
          <p:cNvPr id="68" name="Text 56"/>
          <p:cNvSpPr/>
          <p:nvPr/>
        </p:nvSpPr>
        <p:spPr>
          <a:xfrm>
            <a:off x="4563533" y="5365684"/>
            <a:ext cx="22516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São Gabriel da Cachoeira/AM</a:t>
            </a:r>
            <a:endParaRPr lang="en-US" sz="1200" dirty="0"/>
          </a:p>
        </p:txBody>
      </p:sp>
      <p:sp>
        <p:nvSpPr>
          <p:cNvPr id="69" name="Text 57"/>
          <p:cNvSpPr/>
          <p:nvPr/>
        </p:nvSpPr>
        <p:spPr>
          <a:xfrm>
            <a:off x="6970210" y="5365684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39,31%</a:t>
            </a:r>
            <a:endParaRPr lang="en-US" sz="1200" dirty="0"/>
          </a:p>
        </p:txBody>
      </p:sp>
      <p:sp>
        <p:nvSpPr>
          <p:cNvPr id="70" name="Shape 58"/>
          <p:cNvSpPr/>
          <p:nvPr/>
        </p:nvSpPr>
        <p:spPr>
          <a:xfrm>
            <a:off x="7958667" y="1699220"/>
            <a:ext cx="3420533" cy="4142780"/>
          </a:xfrm>
          <a:prstGeom prst="roundRect">
            <a:avLst>
              <a:gd name="adj" fmla="val 3713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sp>
        <p:nvSpPr>
          <p:cNvPr id="71" name="Shape 59"/>
          <p:cNvSpPr/>
          <p:nvPr/>
        </p:nvSpPr>
        <p:spPr>
          <a:xfrm>
            <a:off x="7958667" y="1699220"/>
            <a:ext cx="3420533" cy="4142780"/>
          </a:xfrm>
          <a:custGeom>
            <a:avLst/>
            <a:gdLst/>
            <a:ahLst/>
            <a:cxnLst/>
            <a:rect l="l" t="t" r="r" b="b"/>
            <a:pathLst>
              <a:path w="3420533" h="414278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293533" y="0"/>
                </a:lnTo>
                <a:arcTo hR="127000" wR="127000" stAng="16200000" swAng="5400000"/>
                <a:lnTo>
                  <a:pt x="342053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5E8C3A"/>
          </a:solidFill>
          <a:ln/>
        </p:spPr>
      </p:sp>
      <p:sp>
        <p:nvSpPr>
          <p:cNvPr id="72" name="Text 60"/>
          <p:cNvSpPr/>
          <p:nvPr/>
        </p:nvSpPr>
        <p:spPr>
          <a:xfrm>
            <a:off x="8136467" y="1915120"/>
            <a:ext cx="3156881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Lixo</a:t>
            </a:r>
            <a:endParaRPr lang="en-US" sz="1800" dirty="0"/>
          </a:p>
        </p:txBody>
      </p:sp>
      <p:sp>
        <p:nvSpPr>
          <p:cNvPr id="73" name="Shape 61"/>
          <p:cNvSpPr/>
          <p:nvPr/>
        </p:nvSpPr>
        <p:spPr>
          <a:xfrm>
            <a:off x="8136467" y="2268803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74" name="Image 10" descr="Chart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136467" y="2370138"/>
            <a:ext cx="165100" cy="165100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8365067" y="2346061"/>
            <a:ext cx="16183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Coleta de lixo geral</a:t>
            </a:r>
            <a:endParaRPr lang="en-US" sz="1200" dirty="0"/>
          </a:p>
        </p:txBody>
      </p:sp>
      <p:sp>
        <p:nvSpPr>
          <p:cNvPr id="76" name="Text 63"/>
          <p:cNvSpPr/>
          <p:nvPr/>
        </p:nvSpPr>
        <p:spPr>
          <a:xfrm>
            <a:off x="8136467" y="2584781"/>
            <a:ext cx="20736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Santa Cruz de Minas/MG</a:t>
            </a:r>
            <a:endParaRPr lang="en-US" sz="1200" dirty="0"/>
          </a:p>
        </p:txBody>
      </p:sp>
      <p:sp>
        <p:nvSpPr>
          <p:cNvPr id="77" name="Text 64"/>
          <p:cNvSpPr/>
          <p:nvPr/>
        </p:nvSpPr>
        <p:spPr>
          <a:xfrm>
            <a:off x="10417890" y="2584781"/>
            <a:ext cx="7835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100,00%</a:t>
            </a:r>
            <a:endParaRPr lang="en-US" sz="1200" dirty="0"/>
          </a:p>
        </p:txBody>
      </p:sp>
      <p:sp>
        <p:nvSpPr>
          <p:cNvPr id="78" name="Text 65"/>
          <p:cNvSpPr/>
          <p:nvPr/>
        </p:nvSpPr>
        <p:spPr>
          <a:xfrm>
            <a:off x="8136467" y="2823501"/>
            <a:ext cx="18112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Presidente Lucena/RS</a:t>
            </a:r>
            <a:endParaRPr lang="en-US" sz="1200" dirty="0"/>
          </a:p>
        </p:txBody>
      </p:sp>
      <p:sp>
        <p:nvSpPr>
          <p:cNvPr id="79" name="Text 66"/>
          <p:cNvSpPr/>
          <p:nvPr/>
        </p:nvSpPr>
        <p:spPr>
          <a:xfrm>
            <a:off x="10433447" y="2823501"/>
            <a:ext cx="7679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100,00%</a:t>
            </a:r>
            <a:endParaRPr lang="en-US" sz="1200" dirty="0"/>
          </a:p>
        </p:txBody>
      </p:sp>
      <p:sp>
        <p:nvSpPr>
          <p:cNvPr id="80" name="Shape 67"/>
          <p:cNvSpPr/>
          <p:nvPr/>
        </p:nvSpPr>
        <p:spPr>
          <a:xfrm>
            <a:off x="8136467" y="3116197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81" name="Image 11" descr="Warni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136467" y="3217532"/>
            <a:ext cx="165100" cy="165100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8365067" y="3193455"/>
            <a:ext cx="18049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Descarte inadequado</a:t>
            </a:r>
            <a:endParaRPr lang="en-US" sz="1200" dirty="0"/>
          </a:p>
        </p:txBody>
      </p:sp>
      <p:sp>
        <p:nvSpPr>
          <p:cNvPr id="83" name="Text 69"/>
          <p:cNvSpPr/>
          <p:nvPr/>
        </p:nvSpPr>
        <p:spPr>
          <a:xfrm>
            <a:off x="8136467" y="3432175"/>
            <a:ext cx="2153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Serrano do Maranhão/MA</a:t>
            </a:r>
            <a:endParaRPr lang="en-US" sz="1200" dirty="0"/>
          </a:p>
        </p:txBody>
      </p:sp>
      <p:sp>
        <p:nvSpPr>
          <p:cNvPr id="84" name="Text 70"/>
          <p:cNvSpPr/>
          <p:nvPr/>
        </p:nvSpPr>
        <p:spPr>
          <a:xfrm>
            <a:off x="10527665" y="3432175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98,32%</a:t>
            </a:r>
            <a:endParaRPr lang="en-US" sz="1200" dirty="0"/>
          </a:p>
        </p:txBody>
      </p:sp>
      <p:sp>
        <p:nvSpPr>
          <p:cNvPr id="85" name="Text 71"/>
          <p:cNvSpPr/>
          <p:nvPr/>
        </p:nvSpPr>
        <p:spPr>
          <a:xfrm>
            <a:off x="8136467" y="3670895"/>
            <a:ext cx="1237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Bacurituba/MA</a:t>
            </a:r>
            <a:endParaRPr lang="en-US" sz="1200" dirty="0"/>
          </a:p>
        </p:txBody>
      </p:sp>
      <p:sp>
        <p:nvSpPr>
          <p:cNvPr id="86" name="Text 72"/>
          <p:cNvSpPr/>
          <p:nvPr/>
        </p:nvSpPr>
        <p:spPr>
          <a:xfrm>
            <a:off x="10543143" y="3670895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87,60%</a:t>
            </a:r>
            <a:endParaRPr lang="en-US" sz="1200" dirty="0"/>
          </a:p>
        </p:txBody>
      </p:sp>
      <p:sp>
        <p:nvSpPr>
          <p:cNvPr id="87" name="Shape 73"/>
          <p:cNvSpPr/>
          <p:nvPr/>
        </p:nvSpPr>
        <p:spPr>
          <a:xfrm>
            <a:off x="8136467" y="3963591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88" name="Image 12" descr="Chart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136467" y="4064926"/>
            <a:ext cx="165100" cy="165100"/>
          </a:xfrm>
          <a:prstGeom prst="rect">
            <a:avLst/>
          </a:prstGeom>
        </p:spPr>
      </p:pic>
      <p:sp>
        <p:nvSpPr>
          <p:cNvPr id="89" name="Text 74"/>
          <p:cNvSpPr/>
          <p:nvPr/>
        </p:nvSpPr>
        <p:spPr>
          <a:xfrm>
            <a:off x="8365067" y="4040849"/>
            <a:ext cx="2572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Lixo queimado na propriedade</a:t>
            </a:r>
            <a:endParaRPr lang="en-US" sz="1200" dirty="0"/>
          </a:p>
        </p:txBody>
      </p:sp>
      <p:sp>
        <p:nvSpPr>
          <p:cNvPr id="90" name="Text 75"/>
          <p:cNvSpPr/>
          <p:nvPr/>
        </p:nvSpPr>
        <p:spPr>
          <a:xfrm>
            <a:off x="8136467" y="4279570"/>
            <a:ext cx="1290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Bacurituba/MA</a:t>
            </a:r>
            <a:endParaRPr lang="en-US" sz="1200" dirty="0"/>
          </a:p>
        </p:txBody>
      </p:sp>
      <p:sp>
        <p:nvSpPr>
          <p:cNvPr id="91" name="Text 76"/>
          <p:cNvSpPr/>
          <p:nvPr/>
        </p:nvSpPr>
        <p:spPr>
          <a:xfrm>
            <a:off x="10527665" y="4279570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85,25%</a:t>
            </a:r>
            <a:endParaRPr lang="en-US" sz="1200" dirty="0"/>
          </a:p>
        </p:txBody>
      </p:sp>
      <p:sp>
        <p:nvSpPr>
          <p:cNvPr id="92" name="Text 77"/>
          <p:cNvSpPr/>
          <p:nvPr/>
        </p:nvSpPr>
        <p:spPr>
          <a:xfrm>
            <a:off x="8136467" y="4518290"/>
            <a:ext cx="20927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Serrano do Maranhão/MA</a:t>
            </a:r>
            <a:endParaRPr lang="en-US" sz="1200" dirty="0"/>
          </a:p>
        </p:txBody>
      </p:sp>
      <p:sp>
        <p:nvSpPr>
          <p:cNvPr id="93" name="Text 78"/>
          <p:cNvSpPr/>
          <p:nvPr/>
        </p:nvSpPr>
        <p:spPr>
          <a:xfrm>
            <a:off x="10543143" y="4518290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83,07%</a:t>
            </a:r>
            <a:endParaRPr lang="en-US" sz="1200" dirty="0"/>
          </a:p>
        </p:txBody>
      </p:sp>
      <p:sp>
        <p:nvSpPr>
          <p:cNvPr id="94" name="Shape 79"/>
          <p:cNvSpPr/>
          <p:nvPr/>
        </p:nvSpPr>
        <p:spPr>
          <a:xfrm>
            <a:off x="8136467" y="4810985"/>
            <a:ext cx="3064933" cy="0"/>
          </a:xfrm>
          <a:prstGeom prst="line">
            <a:avLst/>
          </a:prstGeom>
          <a:noFill/>
          <a:ln w="6350">
            <a:solidFill>
              <a:srgbClr val="DCE5E8"/>
            </a:solidFill>
            <a:prstDash val="solid"/>
          </a:ln>
        </p:spPr>
      </p:sp>
      <p:pic>
        <p:nvPicPr>
          <p:cNvPr id="95" name="Image 13" descr="Chart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136467" y="4912320"/>
            <a:ext cx="165100" cy="165100"/>
          </a:xfrm>
          <a:prstGeom prst="rect">
            <a:avLst/>
          </a:prstGeom>
        </p:spPr>
      </p:pic>
      <p:sp>
        <p:nvSpPr>
          <p:cNvPr id="96" name="Text 80"/>
          <p:cNvSpPr/>
          <p:nvPr/>
        </p:nvSpPr>
        <p:spPr>
          <a:xfrm>
            <a:off x="8365067" y="4888243"/>
            <a:ext cx="1893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Lixo em terreno baldio</a:t>
            </a:r>
            <a:endParaRPr lang="en-US" sz="1200" dirty="0"/>
          </a:p>
        </p:txBody>
      </p:sp>
      <p:sp>
        <p:nvSpPr>
          <p:cNvPr id="97" name="Text 81"/>
          <p:cNvSpPr/>
          <p:nvPr/>
        </p:nvSpPr>
        <p:spPr>
          <a:xfrm>
            <a:off x="8136467" y="5126964"/>
            <a:ext cx="18303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Ilha de Itamaracá/PE</a:t>
            </a:r>
            <a:endParaRPr lang="en-US" sz="1200" dirty="0"/>
          </a:p>
        </p:txBody>
      </p:sp>
      <p:sp>
        <p:nvSpPr>
          <p:cNvPr id="98" name="Text 82"/>
          <p:cNvSpPr/>
          <p:nvPr/>
        </p:nvSpPr>
        <p:spPr>
          <a:xfrm>
            <a:off x="10527665" y="5126964"/>
            <a:ext cx="673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30,17%</a:t>
            </a:r>
            <a:endParaRPr lang="en-US" sz="1200" dirty="0"/>
          </a:p>
        </p:txBody>
      </p:sp>
      <p:sp>
        <p:nvSpPr>
          <p:cNvPr id="99" name="Text 83"/>
          <p:cNvSpPr/>
          <p:nvPr/>
        </p:nvSpPr>
        <p:spPr>
          <a:xfrm>
            <a:off x="8136467" y="5365684"/>
            <a:ext cx="19757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Santa Rosa do Purus/AC</a:t>
            </a:r>
            <a:endParaRPr lang="en-US" sz="1200" dirty="0"/>
          </a:p>
        </p:txBody>
      </p:sp>
      <p:sp>
        <p:nvSpPr>
          <p:cNvPr id="100" name="Text 84"/>
          <p:cNvSpPr/>
          <p:nvPr/>
        </p:nvSpPr>
        <p:spPr>
          <a:xfrm>
            <a:off x="10543143" y="5365684"/>
            <a:ext cx="6582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21,73%</a:t>
            </a:r>
            <a:endParaRPr lang="en-US" sz="1200" dirty="0"/>
          </a:p>
        </p:txBody>
      </p:sp>
      <p:sp>
        <p:nvSpPr>
          <p:cNvPr id="101" name="Text 8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% de domicílios do município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C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C27"/>
              </a:gs>
              <a:gs pos="60000">
                <a:srgbClr val="0D3A4D"/>
              </a:gs>
              <a:gs pos="100000">
                <a:srgbClr val="145A68"/>
              </a:gs>
            </a:gsLst>
            <a:lin ang="4200000" scaled="0"/>
          </a:gradFill>
          <a:ln/>
        </p:spPr>
      </p:sp>
      <p:pic>
        <p:nvPicPr>
          <p:cNvPr id="3" name="Image 0" descr="Caminhão-pipa abastecendo cisterna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81C27">
                  <a:alpha val="88000"/>
                </a:srgbClr>
              </a:gs>
              <a:gs pos="40000">
                <a:srgbClr val="081C27">
                  <a:alpha val="55000"/>
                </a:srgbClr>
              </a:gs>
              <a:gs pos="70000">
                <a:srgbClr val="081C27">
                  <a:alpha val="62000"/>
                </a:srgbClr>
              </a:gs>
              <a:gs pos="100000">
                <a:srgbClr val="081C27">
                  <a:alpha val="92000"/>
                </a:srgbClr>
              </a:gs>
            </a:gsLst>
            <a:lin ang="540000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812800" y="812800"/>
            <a:ext cx="10883392" cy="23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7F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PILAR 1 · ÁGUA</a:t>
            </a:r>
            <a:endParaRPr lang="en-US" sz="1196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074871"/>
            <a:ext cx="10883392" cy="44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9"/>
              </a:lnSpc>
              <a:buNone/>
            </a:pPr>
            <a:r>
              <a:rPr lang="en-US" sz="2972" b="1" i="0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Vulnerabilidade hídrica — onde falta água</a:t>
            </a:r>
            <a:endParaRPr lang="en-US" sz="2972" dirty="0"/>
          </a:p>
        </p:txBody>
      </p:sp>
      <p:sp>
        <p:nvSpPr>
          <p:cNvPr id="7" name="Shape 4"/>
          <p:cNvSpPr/>
          <p:nvPr/>
        </p:nvSpPr>
        <p:spPr>
          <a:xfrm>
            <a:off x="812800" y="1693135"/>
            <a:ext cx="3479800" cy="4033441"/>
          </a:xfrm>
          <a:prstGeom prst="roundRect">
            <a:avLst>
              <a:gd name="adj" fmla="val 365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203200" dist="762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Mapa do Brasil com os cinco municípios mais críticos do indicad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5200" y="1845535"/>
            <a:ext cx="3175000" cy="317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1900" y="30456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187700" y="31472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35300" y="26519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36950" y="246783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390650" y="25376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65200" y="511446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8FCAD2"/>
          </a:solidFill>
          <a:ln/>
        </p:spPr>
      </p:sp>
      <p:sp>
        <p:nvSpPr>
          <p:cNvPr id="15" name="Text 11"/>
          <p:cNvSpPr/>
          <p:nvPr/>
        </p:nvSpPr>
        <p:spPr>
          <a:xfrm>
            <a:off x="1181100" y="5084035"/>
            <a:ext cx="25950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PB · PI · AM — estados no Top 5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71550" y="5384933"/>
            <a:ext cx="165100" cy="165100"/>
          </a:xfrm>
          <a:prstGeom prst="roundRect">
            <a:avLst>
              <a:gd name="adj" fmla="val 50000"/>
            </a:avLst>
          </a:prstGeom>
          <a:solidFill>
            <a:srgbClr val="0E6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06500" y="5360856"/>
            <a:ext cx="2694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Município · nº = posição no Top 5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49775" y="1696310"/>
            <a:ext cx="6826250" cy="4179755"/>
          </a:xfrm>
          <a:prstGeom prst="roundRect">
            <a:avLst>
              <a:gd name="adj" fmla="val 2962"/>
            </a:avLst>
          </a:prstGeom>
          <a:solidFill>
            <a:srgbClr val="081C27">
              <a:alpha val="72000"/>
            </a:srgbClr>
          </a:solidFill>
          <a:ln w="6350">
            <a:solidFill>
              <a:srgbClr val="7FD3DE">
                <a:alpha val="3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04833" y="1951369"/>
            <a:ext cx="65056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5 · mais críticos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04833" y="2378075"/>
            <a:ext cx="6505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de domicílios sem acesso à rede geral de água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7533" y="2756495"/>
          <a:ext cx="6303433" cy="1995884"/>
        </p:xfrm>
        <a:graphic>
          <a:graphicData uri="http://schemas.openxmlformats.org/drawingml/2006/table">
            <a:tbl>
              <a:tblPr/>
              <a:tblGrid>
                <a:gridCol w="504275"/>
                <a:gridCol w="3908129"/>
                <a:gridCol w="1891030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A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A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Município (UF)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3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A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domicílios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3DE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Algodão de Jandaíra (PB)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FD3D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Betânia do Piauí (PI)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FD3D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99,85%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34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Caldeirão Grande do Piauí (PI)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FD3D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99,84%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Sossêgo (PB)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FD3D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99,66%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34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7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Pauini (AM)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FD3D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98,18%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8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4804833" y="4904780"/>
            <a:ext cx="6316133" cy="716227"/>
          </a:xfrm>
          <a:prstGeom prst="roundRect">
            <a:avLst>
              <a:gd name="adj" fmla="val 10639"/>
            </a:avLst>
          </a:prstGeom>
          <a:solidFill>
            <a:srgbClr val="7FD3DE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Semiárido em foco:</a:t>
            </a:r>
            <a:r>
              <a:rPr lang="en-US" sz="1300" dirty="0">
                <a:solidFill>
                  <a:srgbClr val="0A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quatro dos cinco estão no semiárido da Paraíba e do Piauí; Pauini (AM) mostra que a falta de rede também atinge a Amazônia.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C2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Foto: entrega de água em cisterna, Algodão de Jandaíra (PB)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120C"/>
              </a:gs>
              <a:gs pos="60000">
                <a:srgbClr val="2E2618"/>
              </a:gs>
              <a:gs pos="100000">
                <a:srgbClr val="47391F"/>
              </a:gs>
            </a:gsLst>
            <a:lin ang="4200000" scaled="0"/>
          </a:gradFill>
          <a:ln/>
        </p:spPr>
      </p:sp>
      <p:pic>
        <p:nvPicPr>
          <p:cNvPr id="3" name="Image 0" descr="Palafitas sobre córrego com esgoto e lixo">    </p:cNvPr>
          <p:cNvPicPr>
            <a:picLocks noChangeAspect="1"/>
          </p:cNvPicPr>
          <p:nvPr/>
        </p:nvPicPr>
        <p:blipFill>
          <a:blip r:embed="rId1"/>
          <a:srcRect l="0" r="0" t="7843" b="784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120C">
                  <a:alpha val="88000"/>
                </a:srgbClr>
              </a:gs>
              <a:gs pos="40000">
                <a:srgbClr val="15120C">
                  <a:alpha val="55000"/>
                </a:srgbClr>
              </a:gs>
              <a:gs pos="70000">
                <a:srgbClr val="15120C">
                  <a:alpha val="62000"/>
                </a:srgbClr>
              </a:gs>
              <a:gs pos="100000">
                <a:srgbClr val="15120C">
                  <a:alpha val="92000"/>
                </a:srgbClr>
              </a:gs>
            </a:gsLst>
            <a:lin ang="540000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812800" y="812800"/>
            <a:ext cx="10883392" cy="23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E3A8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PILAR 2 · ESGOTO</a:t>
            </a:r>
            <a:endParaRPr lang="en-US" sz="1196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074871"/>
            <a:ext cx="10883392" cy="44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9"/>
              </a:lnSpc>
              <a:buNone/>
            </a:pPr>
            <a:r>
              <a:rPr lang="en-US" sz="2972" b="1" i="0" dirty="0">
                <a:solidFill>
                  <a:srgbClr val="F5EFE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Esgoto inadequado — a céu aberto</a:t>
            </a:r>
            <a:endParaRPr lang="en-US" sz="2972" dirty="0"/>
          </a:p>
        </p:txBody>
      </p:sp>
      <p:sp>
        <p:nvSpPr>
          <p:cNvPr id="7" name="Shape 4"/>
          <p:cNvSpPr/>
          <p:nvPr/>
        </p:nvSpPr>
        <p:spPr>
          <a:xfrm>
            <a:off x="812800" y="1693135"/>
            <a:ext cx="3479800" cy="4033441"/>
          </a:xfrm>
          <a:prstGeom prst="roundRect">
            <a:avLst>
              <a:gd name="adj" fmla="val 3650"/>
            </a:avLst>
          </a:prstGeom>
          <a:solidFill>
            <a:srgbClr val="FCFAF6"/>
          </a:solidFill>
          <a:ln/>
          <a:effectLst>
            <a:outerShdw sx="100000" sy="100000" kx="0" ky="0" algn="bl" rotWithShape="0" blurRad="203200" dist="76200" dir="5400000">
              <a:srgbClr val="000000">
                <a:alpha val="40000"/>
              </a:srgbClr>
            </a:outerShdw>
          </a:effectLst>
        </p:spPr>
      </p:sp>
      <p:pic>
        <p:nvPicPr>
          <p:cNvPr id="8" name="Image 1" descr="Mapa do Brasil com os cinco municípios mais críticos do indicad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5200" y="1845535"/>
            <a:ext cx="3175000" cy="317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05200" y="298853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139950" y="411883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46300" y="45315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27400" y="34901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30600" y="2486885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65200" y="511446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8C48E"/>
          </a:solidFill>
          <a:ln/>
        </p:spPr>
      </p:sp>
      <p:sp>
        <p:nvSpPr>
          <p:cNvPr id="15" name="Text 11"/>
          <p:cNvSpPr/>
          <p:nvPr/>
        </p:nvSpPr>
        <p:spPr>
          <a:xfrm>
            <a:off x="1181100" y="5084035"/>
            <a:ext cx="297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4C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 · PR · RS · MG — estados no Top 5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71550" y="5384933"/>
            <a:ext cx="165100" cy="165100"/>
          </a:xfrm>
          <a:prstGeom prst="roundRect">
            <a:avLst>
              <a:gd name="adj" fmla="val 50000"/>
            </a:avLst>
          </a:prstGeom>
          <a:solidFill>
            <a:srgbClr val="8A5A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06500" y="5360856"/>
            <a:ext cx="2694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4C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Município · nº = posição no Top 5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49775" y="1696310"/>
            <a:ext cx="6826250" cy="4179755"/>
          </a:xfrm>
          <a:prstGeom prst="roundRect">
            <a:avLst>
              <a:gd name="adj" fmla="val 2962"/>
            </a:avLst>
          </a:prstGeom>
          <a:solidFill>
            <a:srgbClr val="15120C">
              <a:alpha val="72000"/>
            </a:srgbClr>
          </a:solidFill>
          <a:ln w="6350">
            <a:solidFill>
              <a:srgbClr val="E3A857">
                <a:alpha val="3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04833" y="1951369"/>
            <a:ext cx="65056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EFE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5 · mais críticos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04833" y="2378075"/>
            <a:ext cx="6505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com fossa rudimentar, vala, rios/mar ou sem banheiro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7533" y="2756495"/>
          <a:ext cx="6303433" cy="1995884"/>
        </p:xfrm>
        <a:graphic>
          <a:graphicData uri="http://schemas.openxmlformats.org/drawingml/2006/table">
            <a:tbl>
              <a:tblPr/>
              <a:tblGrid>
                <a:gridCol w="504275"/>
                <a:gridCol w="3908129"/>
                <a:gridCol w="1891030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12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12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Município (UF)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85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120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domicílios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857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Nova Santa Rita (PI)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3A8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99,78%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B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Sulina (PR)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3A8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99,63%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Santo Antônio do Planalto (RS)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3A8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99,63%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Campo Azul (MG)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3A8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99,61%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1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5EFE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Juazeiro do Piauí (PI)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3A8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99,60%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4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4804833" y="4904780"/>
            <a:ext cx="6316133" cy="716227"/>
          </a:xfrm>
          <a:prstGeom prst="roundRect">
            <a:avLst>
              <a:gd name="adj" fmla="val 10639"/>
            </a:avLst>
          </a:prstGeom>
          <a:solidFill>
            <a:srgbClr val="E3A857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12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é só o Nordeste:</a:t>
            </a:r>
            <a:r>
              <a:rPr lang="en-US" sz="1300" dirty="0">
                <a:solidFill>
                  <a:srgbClr val="1512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três dos cinco estão no Sul e no Sudeste — Sulina (PR), Santo Antônio do Planalto (RS) e Campo Azul (MG).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B8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Foto: esgoto a céu aberto, Belém (PA), 2025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160D"/>
              </a:gs>
              <a:gs pos="60000">
                <a:srgbClr val="26301B"/>
              </a:gs>
              <a:gs pos="100000">
                <a:srgbClr val="3A4627"/>
              </a:gs>
            </a:gsLst>
            <a:lin ang="4200000" scaled="0"/>
          </a:gradFill>
          <a:ln/>
        </p:spPr>
      </p:sp>
      <p:pic>
        <p:nvPicPr>
          <p:cNvPr id="3" name="Image 0" descr="Garis retirando lixo acumulado em rio urbano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160D">
                  <a:alpha val="88000"/>
                </a:srgbClr>
              </a:gs>
              <a:gs pos="40000">
                <a:srgbClr val="11160D">
                  <a:alpha val="55000"/>
                </a:srgbClr>
              </a:gs>
              <a:gs pos="70000">
                <a:srgbClr val="11160D">
                  <a:alpha val="62000"/>
                </a:srgbClr>
              </a:gs>
              <a:gs pos="100000">
                <a:srgbClr val="11160D">
                  <a:alpha val="92000"/>
                </a:srgbClr>
              </a:gs>
            </a:gsLst>
            <a:lin ang="540000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812800" y="812800"/>
            <a:ext cx="10883392" cy="23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A9C4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PILAR 3 · LIXO</a:t>
            </a:r>
            <a:endParaRPr lang="en-US" sz="1196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1074871"/>
            <a:ext cx="10883392" cy="44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9"/>
              </a:lnSpc>
              <a:buNone/>
            </a:pPr>
            <a:r>
              <a:rPr lang="en-US" sz="2972" b="1" i="0" dirty="0">
                <a:solidFill>
                  <a:srgbClr val="F1F4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Descarte inadequado — lixo sem destino</a:t>
            </a:r>
            <a:endParaRPr lang="en-US" sz="2972" dirty="0"/>
          </a:p>
        </p:txBody>
      </p:sp>
      <p:sp>
        <p:nvSpPr>
          <p:cNvPr id="7" name="Shape 4"/>
          <p:cNvSpPr/>
          <p:nvPr/>
        </p:nvSpPr>
        <p:spPr>
          <a:xfrm>
            <a:off x="812800" y="1693137"/>
            <a:ext cx="3479800" cy="4033441"/>
          </a:xfrm>
          <a:prstGeom prst="roundRect">
            <a:avLst>
              <a:gd name="adj" fmla="val 3650"/>
            </a:avLst>
          </a:prstGeom>
          <a:solidFill>
            <a:srgbClr val="FBFCF8"/>
          </a:solidFill>
          <a:ln/>
          <a:effectLst>
            <a:outerShdw sx="100000" sy="100000" kx="0" ky="0" algn="bl" rotWithShape="0" blurRad="203200" dist="76200" dir="5400000">
              <a:srgbClr val="000000">
                <a:alpha val="40000"/>
              </a:srgbClr>
            </a:outerShdw>
          </a:effectLst>
        </p:spPr>
      </p:sp>
      <p:pic>
        <p:nvPicPr>
          <p:cNvPr id="8" name="Image 1" descr="Mapa do Brasil com os cinco municípios mais críticos do indicad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5200" y="1845537"/>
            <a:ext cx="3175000" cy="317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33700" y="2105887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55900" y="2613887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90750" y="1928087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48050" y="2315437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43300" y="3159987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65200" y="511446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C3D69A"/>
          </a:solidFill>
          <a:ln/>
        </p:spPr>
      </p:sp>
      <p:sp>
        <p:nvSpPr>
          <p:cNvPr id="15" name="Text 11"/>
          <p:cNvSpPr/>
          <p:nvPr/>
        </p:nvSpPr>
        <p:spPr>
          <a:xfrm>
            <a:off x="1181100" y="5084037"/>
            <a:ext cx="26323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 · RR · PE — estados no Top 5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71550" y="5384933"/>
            <a:ext cx="165100" cy="165100"/>
          </a:xfrm>
          <a:prstGeom prst="roundRect">
            <a:avLst>
              <a:gd name="adj" fmla="val 50000"/>
            </a:avLst>
          </a:prstGeom>
          <a:solidFill>
            <a:srgbClr val="4F6B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06500" y="5360857"/>
            <a:ext cx="2694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Município · nº = posição no Top 5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49775" y="1696312"/>
            <a:ext cx="6826250" cy="4179755"/>
          </a:xfrm>
          <a:prstGeom prst="roundRect">
            <a:avLst>
              <a:gd name="adj" fmla="val 2962"/>
            </a:avLst>
          </a:prstGeom>
          <a:solidFill>
            <a:srgbClr val="11160D">
              <a:alpha val="72000"/>
            </a:srgbClr>
          </a:solidFill>
          <a:ln w="6350">
            <a:solidFill>
              <a:srgbClr val="A9C46C">
                <a:alpha val="3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04833" y="1951369"/>
            <a:ext cx="65056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4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5 · mais críticos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04833" y="2378075"/>
            <a:ext cx="6505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com lixo queimado, enterrado ou jogado em terrenos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7533" y="2756495"/>
          <a:ext cx="6303433" cy="1995884"/>
        </p:xfrm>
        <a:graphic>
          <a:graphicData uri="http://schemas.openxmlformats.org/drawingml/2006/table">
            <a:tbl>
              <a:tblPr/>
              <a:tblGrid>
                <a:gridCol w="504275"/>
                <a:gridCol w="3908129"/>
                <a:gridCol w="1891030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1160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4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1160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Município (UF)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4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1160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domicílios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46C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Serrano do Maranhão (MA)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C46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98,32%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Bacurituba (MA)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C46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87,60%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1C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Uiramutã (RR)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C46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86,40%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Milagres do Maranhão (MA)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C46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84,04%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1C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1F4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Carnaubeira da Penha (PE)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C46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81,41%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4804833" y="4904780"/>
            <a:ext cx="6316133" cy="716227"/>
          </a:xfrm>
          <a:prstGeom prst="roundRect">
            <a:avLst>
              <a:gd name="adj" fmla="val 10639"/>
            </a:avLst>
          </a:prstGeom>
          <a:solidFill>
            <a:srgbClr val="A9C46C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60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Maranhão concentra o problema:</a:t>
            </a:r>
            <a:r>
              <a:rPr lang="en-US" sz="1300" dirty="0">
                <a:solidFill>
                  <a:srgbClr val="11160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três dos cinco municípios são maranhenses; em Bacurituba, 85,25% do lixo é queimado na propriedade.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C7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Foto: lixo em rio, Manaus (AM), 2025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0E6E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 DE ATENDIMENTO PLENO EM SANEAMENTO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5268"/>
            <a:ext cx="10883392" cy="44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9"/>
              </a:lnSpc>
              <a:buNone/>
            </a:pPr>
            <a:r>
              <a:rPr lang="en-US" sz="2972" b="1" i="0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IAP — Líderes nacionais</a:t>
            </a:r>
            <a:endParaRPr lang="en-US" sz="2972" dirty="0"/>
          </a:p>
        </p:txBody>
      </p:sp>
      <p:sp>
        <p:nvSpPr>
          <p:cNvPr id="4" name="Shape 2"/>
          <p:cNvSpPr/>
          <p:nvPr/>
        </p:nvSpPr>
        <p:spPr>
          <a:xfrm>
            <a:off x="812800" y="1694328"/>
            <a:ext cx="3479800" cy="4033441"/>
          </a:xfrm>
          <a:prstGeom prst="roundRect">
            <a:avLst>
              <a:gd name="adj" fmla="val 365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pic>
        <p:nvPicPr>
          <p:cNvPr id="5" name="Image 0" descr="Mapa do Brasil com os municípios do rank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846728"/>
            <a:ext cx="3175000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13000" y="399937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16250" y="432957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0" y="374537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90800" y="366917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36900" y="352947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F8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5200" y="5115654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8FCAD2"/>
          </a:solidFill>
          <a:ln/>
        </p:spPr>
      </p:sp>
      <p:sp>
        <p:nvSpPr>
          <p:cNvPr id="12" name="Text 9"/>
          <p:cNvSpPr/>
          <p:nvPr/>
        </p:nvSpPr>
        <p:spPr>
          <a:xfrm>
            <a:off x="1181100" y="5085228"/>
            <a:ext cx="2620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 · MG · ES — estados no Top 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1550" y="5386124"/>
            <a:ext cx="165100" cy="165100"/>
          </a:xfrm>
          <a:prstGeom prst="roundRect">
            <a:avLst>
              <a:gd name="adj" fmla="val 50000"/>
            </a:avLst>
          </a:prstGeom>
          <a:solidFill>
            <a:srgbClr val="0E6E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6500" y="5362048"/>
            <a:ext cx="2694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Município · nº = posição no Top 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46600" y="1694328"/>
            <a:ext cx="6832600" cy="4177639"/>
          </a:xfrm>
          <a:prstGeom prst="roundRect">
            <a:avLst>
              <a:gd name="adj" fmla="val 304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1948328"/>
            <a:ext cx="651433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5 · maior atendimento pleno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3300" y="2387733"/>
          <a:ext cx="6311900" cy="1995884"/>
        </p:xfrm>
        <a:graphic>
          <a:graphicData uri="http://schemas.openxmlformats.org/drawingml/2006/table">
            <a:tbl>
              <a:tblPr/>
              <a:tblGrid>
                <a:gridCol w="378714"/>
                <a:gridCol w="2398522"/>
                <a:gridCol w="883666"/>
                <a:gridCol w="883666"/>
                <a:gridCol w="883666"/>
                <a:gridCol w="88366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8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8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Município (UF)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8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IAP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8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Água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8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Esgoto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8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Lixo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E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Águas de São Pedro (SP)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6E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99,88%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99,65%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São Caetano do Sul (SP)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6E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99,86%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99,77%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99,83%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99,98%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Vitória (ES)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6E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99,56%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99,52%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99,43%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99,74%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Iracemápolis (SP)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6E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99,52%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99,50%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99,27%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99,79%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Santa Cruz de Minas (MG)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6E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99,48%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99,05%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99,39%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800600" y="4536018"/>
            <a:ext cx="6324600" cy="716227"/>
          </a:xfrm>
          <a:prstGeom prst="roundRect">
            <a:avLst>
              <a:gd name="adj" fmla="val 7093"/>
            </a:avLst>
          </a:prstGeom>
          <a:solidFill>
            <a:srgbClr val="E3F1F2"/>
          </a:solidFill>
          <a:ln/>
        </p:spPr>
        <p:txBody>
          <a:bodyPr wrap="square" lIns="175621" tIns="112121" rIns="0" bIns="867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Universalização na prática:</a:t>
            </a:r>
            <a:r>
              <a:rPr lang="en-US" sz="1300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os cinco líderes superam 99% nos três pilares, e todos estão no Sudeste — três deles em São Paulo.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00600" y="4536018"/>
            <a:ext cx="6324600" cy="716227"/>
          </a:xfrm>
          <a:custGeom>
            <a:avLst/>
            <a:gdLst/>
            <a:ahLst/>
            <a:cxnLst/>
            <a:rect l="l" t="t" r="r" b="b"/>
            <a:pathLst>
              <a:path w="6324600" h="716227">
                <a:moveTo>
                  <a:pt x="50800" y="716227"/>
                </a:moveTo>
                <a:lnTo>
                  <a:pt x="50800" y="716227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665427"/>
                </a:lnTo>
                <a:arcTo hR="50800" wR="12700" stAng="10800000" swAng="-5400000"/>
                <a:close/>
              </a:path>
            </a:pathLst>
          </a:custGeom>
          <a:solidFill>
            <a:srgbClr val="0E6E7E"/>
          </a:solidFill>
          <a:ln/>
        </p:spPr>
      </p:sp>
      <p:sp>
        <p:nvSpPr>
          <p:cNvPr id="20" name="Text 16"/>
          <p:cNvSpPr/>
          <p:nvPr/>
        </p:nvSpPr>
        <p:spPr>
          <a:xfrm>
            <a:off x="4800600" y="5404644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IAP = média simples das coberturas de água, esgoto e coleta de lixo.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 DE ATENDIMENTO PLENO EM SANEAMENTO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IAP — Menores índices do país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99220"/>
            <a:ext cx="3479800" cy="4033441"/>
          </a:xfrm>
          <a:prstGeom prst="roundRect">
            <a:avLst>
              <a:gd name="adj" fmla="val 365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pic>
        <p:nvPicPr>
          <p:cNvPr id="5" name="Image 0" descr="Mapa do Brasil com os municípios do rank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851620"/>
            <a:ext cx="3175000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1250" y="310892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679700" y="270252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08150" y="274062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36900" y="314067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75000" y="2162770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5200" y="512054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DB394"/>
          </a:solidFill>
          <a:ln/>
        </p:spPr>
      </p:sp>
      <p:sp>
        <p:nvSpPr>
          <p:cNvPr id="12" name="Text 9"/>
          <p:cNvSpPr/>
          <p:nvPr/>
        </p:nvSpPr>
        <p:spPr>
          <a:xfrm>
            <a:off x="1181100" y="5090120"/>
            <a:ext cx="30629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PB · MA · RO · PI — estados em alerta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1550" y="5391020"/>
            <a:ext cx="165100" cy="165100"/>
          </a:xfrm>
          <a:prstGeom prst="roundRect">
            <a:avLst>
              <a:gd name="adj" fmla="val 50000"/>
            </a:avLst>
          </a:prstGeom>
          <a:solidFill>
            <a:srgbClr val="A84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6500" y="5366941"/>
            <a:ext cx="2694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Município · nº = posição no Top 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46600" y="1699220"/>
            <a:ext cx="6832600" cy="3811918"/>
          </a:xfrm>
          <a:prstGeom prst="roundRect">
            <a:avLst>
              <a:gd name="adj" fmla="val 3332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A2433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1953220"/>
            <a:ext cx="651433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5 · menor atendimento pleno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3300" y="2392629"/>
          <a:ext cx="6311900" cy="1995884"/>
        </p:xfrm>
        <a:graphic>
          <a:graphicData uri="http://schemas.openxmlformats.org/drawingml/2006/table">
            <a:tbl>
              <a:tblPr/>
              <a:tblGrid>
                <a:gridCol w="378714"/>
                <a:gridCol w="2398522"/>
                <a:gridCol w="883666"/>
                <a:gridCol w="883666"/>
                <a:gridCol w="883666"/>
                <a:gridCol w="88366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Município (UF)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3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IAP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3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Água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3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Esgoto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3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Lixo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31A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Gado Bravo (PB)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11,57%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0,40%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2,15%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32,16%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739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Marajá do Sena (MA)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11,90%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12,36%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23,31%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Governador Jorge Teixeira (RO)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11,97%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2,01%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33,91%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Betânia do Piauí (PI)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12,32%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36,96%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5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Santo Amaro do Maranhão (MA)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12,40%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4,25%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32,96%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800600" y="4540914"/>
            <a:ext cx="6324600" cy="716227"/>
          </a:xfrm>
          <a:prstGeom prst="roundRect">
            <a:avLst>
              <a:gd name="adj" fmla="val 7093"/>
            </a:avLst>
          </a:prstGeom>
          <a:solidFill>
            <a:srgbClr val="F6E6DC"/>
          </a:solidFill>
          <a:ln/>
        </p:spPr>
        <p:txBody>
          <a:bodyPr wrap="square" lIns="175621" tIns="112121" rIns="0" bIns="867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Esgoto é o pilar ausente:</a:t>
            </a:r>
            <a:r>
              <a:rPr lang="en-US" sz="1300" dirty="0">
                <a:solidFill>
                  <a:srgbClr val="1423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três dos cinco municípios têm 0,00% de cobertura, e nenhum passa de 37% na coleta de lixo.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00600" y="4540914"/>
            <a:ext cx="6324600" cy="716227"/>
          </a:xfrm>
          <a:custGeom>
            <a:avLst/>
            <a:gdLst/>
            <a:ahLst/>
            <a:cxnLst/>
            <a:rect l="l" t="t" r="r" b="b"/>
            <a:pathLst>
              <a:path w="6324600" h="716227">
                <a:moveTo>
                  <a:pt x="50800" y="716227"/>
                </a:moveTo>
                <a:lnTo>
                  <a:pt x="50800" y="716227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665427"/>
                </a:lnTo>
                <a:arcTo hR="50800" wR="12700" stAng="10800000" swAng="-5400000"/>
                <a:close/>
              </a:path>
            </a:pathLst>
          </a:custGeom>
          <a:solidFill>
            <a:srgbClr val="A8431A"/>
          </a:solidFill>
          <a:ln/>
        </p:spPr>
      </p:sp>
      <p:sp>
        <p:nvSpPr>
          <p:cNvPr id="20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7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50" kern="0" dirty="0">
                <a:solidFill>
                  <a:srgbClr val="A84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 DE VULNERABILIDADE SANITÁRIA TOTAL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5678"/>
            <a:ext cx="10883392" cy="422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66"/>
              </a:lnSpc>
              <a:buNone/>
            </a:pPr>
            <a:r>
              <a:rPr lang="en-US" sz="2878" b="1" i="0" dirty="0">
                <a:solidFill>
                  <a:srgbClr val="2A1A1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IVST — Pontos críticos de atenção</a:t>
            </a:r>
            <a:endParaRPr lang="en-US" sz="2878" dirty="0"/>
          </a:p>
        </p:txBody>
      </p:sp>
      <p:sp>
        <p:nvSpPr>
          <p:cNvPr id="4" name="Shape 2"/>
          <p:cNvSpPr/>
          <p:nvPr/>
        </p:nvSpPr>
        <p:spPr>
          <a:xfrm>
            <a:off x="812800" y="1665818"/>
            <a:ext cx="3479800" cy="4033441"/>
          </a:xfrm>
          <a:prstGeom prst="roundRect">
            <a:avLst>
              <a:gd name="adj" fmla="val 3650"/>
            </a:avLst>
          </a:prstGeom>
          <a:solidFill>
            <a:srgbClr val="FFFAF6"/>
          </a:solidFill>
          <a:ln/>
          <a:effectLst>
            <a:outerShdw sx="100000" sy="100000" kx="0" ky="0" algn="bl" rotWithShape="0" blurRad="152400" dist="50800" dir="5400000">
              <a:srgbClr val="5A280F">
                <a:alpha val="10000"/>
              </a:srgbClr>
            </a:outerShdw>
          </a:effectLst>
        </p:spPr>
      </p:sp>
      <p:pic>
        <p:nvPicPr>
          <p:cNvPr id="5" name="Image 0" descr="Mapa do Brasil com os municípios do rank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818218"/>
            <a:ext cx="3175000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8150" y="270721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86100" y="253576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7150" y="205951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63950" y="308821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76600" y="3088218"/>
            <a:ext cx="27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6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5200" y="5087144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DB394"/>
          </a:solidFill>
          <a:ln/>
        </p:spPr>
      </p:sp>
      <p:sp>
        <p:nvSpPr>
          <p:cNvPr id="12" name="Text 9"/>
          <p:cNvSpPr/>
          <p:nvPr/>
        </p:nvSpPr>
        <p:spPr>
          <a:xfrm>
            <a:off x="1181100" y="5056721"/>
            <a:ext cx="2641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4A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 · PI · PA · PB — risco máximo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1550" y="5357614"/>
            <a:ext cx="165100" cy="165100"/>
          </a:xfrm>
          <a:prstGeom prst="roundRect">
            <a:avLst>
              <a:gd name="adj" fmla="val 50000"/>
            </a:avLst>
          </a:prstGeom>
          <a:solidFill>
            <a:srgbClr val="A84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6500" y="5333541"/>
            <a:ext cx="2694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4A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Município · nº = posição no Top 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46600" y="1665818"/>
            <a:ext cx="6832600" cy="4390959"/>
          </a:xfrm>
          <a:prstGeom prst="roundRect">
            <a:avLst>
              <a:gd name="adj" fmla="val 2892"/>
            </a:avLst>
          </a:prstGeom>
          <a:solidFill>
            <a:srgbClr val="FFFAF6"/>
          </a:solidFill>
          <a:ln/>
          <a:effectLst>
            <a:outerShdw sx="100000" sy="100000" kx="0" ky="0" algn="bl" rotWithShape="0" blurRad="152400" dist="50800" dir="5400000">
              <a:srgbClr val="5A280F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1919818"/>
            <a:ext cx="651433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A1A1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5 · mais vulneráveis do Brasil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3300" y="2359223"/>
          <a:ext cx="6311900" cy="2209205"/>
        </p:xfrm>
        <a:graphic>
          <a:graphicData uri="http://schemas.openxmlformats.org/drawingml/2006/table">
            <a:tbl>
              <a:tblPr/>
              <a:tblGrid>
                <a:gridCol w="378714"/>
                <a:gridCol w="2398522"/>
                <a:gridCol w="883666"/>
                <a:gridCol w="883666"/>
                <a:gridCol w="883666"/>
                <a:gridCol w="883666"/>
              </a:tblGrid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Município (UF)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IVST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 água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Esgoto inad.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6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Lixo inad.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2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Governador Jorge Teixeira (RO)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86,67%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94,57%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99,34%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66,09%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28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Caldeirão Grande do Piauí (PI)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83,65%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99,84%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93,81%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57,30%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Melgaço (PA)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83,36%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88,28%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92,34%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69,47%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Gado Bravo (PB)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82,62%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94,65%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85,38%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67,84%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C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São José de Princesa (PB)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84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82,47%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79,71%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92,16%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A1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75,53%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800600" y="4720828"/>
            <a:ext cx="6324600" cy="716227"/>
          </a:xfrm>
          <a:prstGeom prst="roundRect">
            <a:avLst>
              <a:gd name="adj" fmla="val 7093"/>
            </a:avLst>
          </a:prstGeom>
          <a:solidFill>
            <a:srgbClr val="F6E6DC"/>
          </a:solidFill>
          <a:ln/>
        </p:spPr>
        <p:txBody>
          <a:bodyPr wrap="square" lIns="175621" tIns="112121" rIns="0" bIns="867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1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Carência simultânea:</a:t>
            </a:r>
            <a:r>
              <a:rPr lang="en-US" sz="1300" dirty="0">
                <a:solidFill>
                  <a:srgbClr val="2A1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nos cinco municípios, mais de 85% dos domicílios têm esgotamento inadequado.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00600" y="4720828"/>
            <a:ext cx="6324600" cy="716227"/>
          </a:xfrm>
          <a:custGeom>
            <a:avLst/>
            <a:gdLst/>
            <a:ahLst/>
            <a:cxnLst/>
            <a:rect l="l" t="t" r="r" b="b"/>
            <a:pathLst>
              <a:path w="6324600" h="716227">
                <a:moveTo>
                  <a:pt x="50800" y="716227"/>
                </a:moveTo>
                <a:lnTo>
                  <a:pt x="50800" y="716227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665427"/>
                </a:lnTo>
                <a:arcTo hR="50800" wR="12700" stAng="10800000" swAng="-5400000"/>
                <a:close/>
              </a:path>
            </a:pathLst>
          </a:custGeom>
          <a:solidFill>
            <a:srgbClr val="A8431A"/>
          </a:solidFill>
          <a:ln/>
        </p:spPr>
      </p:sp>
      <p:sp>
        <p:nvSpPr>
          <p:cNvPr id="20" name="Text 16"/>
          <p:cNvSpPr/>
          <p:nvPr/>
        </p:nvSpPr>
        <p:spPr>
          <a:xfrm>
            <a:off x="4800600" y="5589457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IVST = média simples de sem água, esgoto inadequado e lixo inadequado.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433"/>
              </a:gs>
              <a:gs pos="60000">
                <a:srgbClr val="0D3A4D"/>
              </a:gs>
              <a:gs pos="100000">
                <a:srgbClr val="0F5A66"/>
              </a:gs>
            </a:gsLst>
            <a:lin ang="27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SÍNTESE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0769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Conclusões &amp; diretrizes estratégicas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15975" y="1803995"/>
            <a:ext cx="3380317" cy="2737512"/>
          </a:xfrm>
          <a:prstGeom prst="roundRect">
            <a:avLst>
              <a:gd name="adj" fmla="val 452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7FD3DE">
                <a:alpha val="3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1033" y="2059056"/>
            <a:ext cx="50823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7FD3D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36433" y="2155565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1033" y="2683867"/>
            <a:ext cx="295630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Disparidade regional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71033" y="3069896"/>
            <a:ext cx="2956306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D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Grande disparidade entre Sudeste/Sul e Norte/Nordeste: os líderes do IAP estão em SP, ES e MG; os piores, em PB, MA, RO, PI e PA.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5842" y="1803995"/>
            <a:ext cx="3380317" cy="2737512"/>
          </a:xfrm>
          <a:prstGeom prst="roundRect">
            <a:avLst>
              <a:gd name="adj" fmla="val 452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7FD3DE">
                <a:alpha val="3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0900" y="2059056"/>
            <a:ext cx="59531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7FD3D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800" dirty="0"/>
          </a:p>
        </p:txBody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26300" y="2155565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0900" y="2683867"/>
            <a:ext cx="2956306" cy="543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Gargalo em esgoto e resíduos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60900" y="3328925"/>
            <a:ext cx="2956306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D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Gargalo crítico em esgotamento sanitário e destinação adequada de resíduos nos municípios de menor suporte infraestrutural.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995709" y="1803995"/>
            <a:ext cx="3380317" cy="2737512"/>
          </a:xfrm>
          <a:prstGeom prst="roundRect">
            <a:avLst>
              <a:gd name="adj" fmla="val 452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7FD3DE">
                <a:alpha val="35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50767" y="2059056"/>
            <a:ext cx="59531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7FD3D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800" dirty="0"/>
          </a:p>
        </p:txBody>
      </p:sp>
      <p:pic>
        <p:nvPicPr>
          <p:cNvPr id="18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816167" y="2155565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50767" y="2683867"/>
            <a:ext cx="2956306" cy="543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7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Investimento guiado pelo IVST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250767" y="3328925"/>
            <a:ext cx="2956306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FD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Priorizar investimentos nos focos mapeados pelo IVST para cumprir as metas do Marco Legal do Saneamento.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2800" y="4849484"/>
            <a:ext cx="10566400" cy="485114"/>
          </a:xfrm>
          <a:prstGeom prst="roundRect">
            <a:avLst>
              <a:gd name="adj" fmla="val 15708"/>
            </a:avLst>
          </a:prstGeom>
          <a:solidFill>
            <a:srgbClr val="7FD3DE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A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 do Marco Legal (Lei 14.026/2020):</a:t>
            </a:r>
            <a:r>
              <a:rPr lang="en-US" sz="1300" dirty="0">
                <a:solidFill>
                  <a:srgbClr val="0A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99% da população com água potável e 90% com coleta e tratamento de esgoto até 2033.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C2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Fonte: IBGE, Censo Demográfico 2022 · 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orama do Saneamento Básico no Brasil – Censo 2022">
  <a:themeElements>
    <a:clrScheme name="Panorama do Saneamento Básico no Brasil – Censo 2022">
      <a:dk1>
        <a:srgbClr val="14232D"/>
      </a:dk1>
      <a:lt1>
        <a:srgbClr val="F1F5F5"/>
      </a:lt1>
      <a:dk2>
        <a:srgbClr val="4B585F"/>
      </a:dk2>
      <a:lt2>
        <a:srgbClr val="DBE0E1"/>
      </a:lt2>
      <a:accent1>
        <a:srgbClr val="0E6E7E"/>
      </a:accent1>
      <a:accent2>
        <a:srgbClr val="7FD3DE"/>
      </a:accent2>
      <a:accent3>
        <a:srgbClr val="A8431A"/>
      </a:accent3>
      <a:accent4>
        <a:srgbClr val="0D3A4D"/>
      </a:accent4>
      <a:accent5>
        <a:srgbClr val="0F5A66"/>
      </a:accent5>
      <a:accent6>
        <a:srgbClr val="8FCAD2"/>
      </a:accent6>
      <a:hlink>
        <a:srgbClr val="0563C1"/>
      </a:hlink>
      <a:folHlink>
        <a:srgbClr val="954F72"/>
      </a:folHlink>
    </a:clrScheme>
    <a:fontScheme name="Panorama do Saneamento Básico no Brasil – Censo 2022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Panorama do Saneamento Básico no Brasil – Censo 2022</dc:title>
  <dc:subject/>
  <dc:creator/>
  <cp:lastModifiedBy/>
  <cp:revision>1</cp:revision>
  <dcterms:created xsi:type="dcterms:W3CDTF">2026-10-19T14:59:23Z</dcterms:created>
  <dcterms:modified xsi:type="dcterms:W3CDTF">2026-10-19T14:59:23Z</dcterms:modified>
</cp:coreProperties>
</file>